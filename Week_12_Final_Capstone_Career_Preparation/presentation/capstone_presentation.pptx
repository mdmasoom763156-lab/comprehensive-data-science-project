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082f5fb4e4f09" /><Relationship Type="http://schemas.openxmlformats.org/officeDocument/2006/relationships/extended-properties" Target="/docProps/app.xml" Id="R98d423c845d24069" /><Relationship Type="http://schemas.openxmlformats.org/officeDocument/2006/relationships/officeDocument" Target="/ppt/presentation.xml" Id="R9957b1a6fbb840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00671a6c64024"/>
  </p:sldMasterIdLst>
  <p:notesMasterIdLst>
    <p:notesMasterId xmlns:r="http://schemas.openxmlformats.org/officeDocument/2006/relationships" r:id="Rb37176abaf8e4852"/>
  </p:notesMasterIdLst>
  <p:sldIdLst>
    <p:sldId xmlns:r="http://schemas.openxmlformats.org/officeDocument/2006/relationships" id="256" r:id="Rda99db0ce0104956"/>
    <p:sldId xmlns:r="http://schemas.openxmlformats.org/officeDocument/2006/relationships" id="257" r:id="R550151f42f2e4e62"/>
    <p:sldId xmlns:r="http://schemas.openxmlformats.org/officeDocument/2006/relationships" id="258" r:id="R21883e9974614bfc"/>
    <p:sldId xmlns:r="http://schemas.openxmlformats.org/officeDocument/2006/relationships" id="259" r:id="Rbc6a435350424c61"/>
    <p:sldId xmlns:r="http://schemas.openxmlformats.org/officeDocument/2006/relationships" id="260" r:id="R68aa78ce655a4786"/>
    <p:sldId xmlns:r="http://schemas.openxmlformats.org/officeDocument/2006/relationships" id="261" r:id="R2dead2d341994e94"/>
    <p:sldId xmlns:r="http://schemas.openxmlformats.org/officeDocument/2006/relationships" id="262" r:id="R902165b7f37a4dbc"/>
    <p:sldId xmlns:r="http://schemas.openxmlformats.org/officeDocument/2006/relationships" id="263" r:id="Rc69c08253c004be8"/>
    <p:sldId xmlns:r="http://schemas.openxmlformats.org/officeDocument/2006/relationships" id="264" r:id="R4384db44abf64bc0"/>
    <p:sldId xmlns:r="http://schemas.openxmlformats.org/officeDocument/2006/relationships" id="265" r:id="R94b3d1cfab7b4e0b"/>
    <p:sldId xmlns:r="http://schemas.openxmlformats.org/officeDocument/2006/relationships" id="266" r:id="R5c369b26377241bc"/>
    <p:sldId xmlns:r="http://schemas.openxmlformats.org/officeDocument/2006/relationships" id="267" r:id="R3d883099bdf94e6f"/>
    <p:sldId xmlns:r="http://schemas.openxmlformats.org/officeDocument/2006/relationships" id="268" r:id="R0720716545074ec1"/>
    <p:sldId xmlns:r="http://schemas.openxmlformats.org/officeDocument/2006/relationships" id="269" r:id="R083d604a43a841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a5aaf023b4173" /><Relationship Type="http://schemas.openxmlformats.org/officeDocument/2006/relationships/slideMaster" Target="/ppt/slideMasters/slideMaster1.xml" Id="R79e00671a6c64024" /><Relationship Type="http://schemas.openxmlformats.org/officeDocument/2006/relationships/notesMaster" Target="/ppt/notesMasters/notesMaster1.xml" Id="Rb37176abaf8e4852" /><Relationship Type="http://schemas.openxmlformats.org/officeDocument/2006/relationships/presProps" Target="/ppt/presProps.xml" Id="R59b0c222444e4983" /><Relationship Type="http://schemas.openxmlformats.org/officeDocument/2006/relationships/tableStyles" Target="/ppt/tableStyles.xml" Id="Rd9c301f5c38441d5" /><Relationship Type="http://schemas.openxmlformats.org/officeDocument/2006/relationships/slide" Target="/ppt/slides/slide1.xml" Id="Rda99db0ce0104956" /><Relationship Type="http://schemas.openxmlformats.org/officeDocument/2006/relationships/slide" Target="/ppt/slides/slide2.xml" Id="R550151f42f2e4e62" /><Relationship Type="http://schemas.openxmlformats.org/officeDocument/2006/relationships/slide" Target="/ppt/slides/slide3.xml" Id="R21883e9974614bfc" /><Relationship Type="http://schemas.openxmlformats.org/officeDocument/2006/relationships/slide" Target="/ppt/slides/slide4.xml" Id="Rbc6a435350424c61" /><Relationship Type="http://schemas.openxmlformats.org/officeDocument/2006/relationships/slide" Target="/ppt/slides/slide5.xml" Id="R68aa78ce655a4786" /><Relationship Type="http://schemas.openxmlformats.org/officeDocument/2006/relationships/slide" Target="/ppt/slides/slide6.xml" Id="R2dead2d341994e94" /><Relationship Type="http://schemas.openxmlformats.org/officeDocument/2006/relationships/slide" Target="/ppt/slides/slide7.xml" Id="R902165b7f37a4dbc" /><Relationship Type="http://schemas.openxmlformats.org/officeDocument/2006/relationships/slide" Target="/ppt/slides/slide8.xml" Id="Rc69c08253c004be8" /><Relationship Type="http://schemas.openxmlformats.org/officeDocument/2006/relationships/slide" Target="/ppt/slides/slide9.xml" Id="R4384db44abf64bc0" /><Relationship Type="http://schemas.openxmlformats.org/officeDocument/2006/relationships/slide" Target="/ppt/slides/slide10.xml" Id="R94b3d1cfab7b4e0b" /><Relationship Type="http://schemas.openxmlformats.org/officeDocument/2006/relationships/slide" Target="/ppt/slides/slide11.xml" Id="R5c369b26377241bc" /><Relationship Type="http://schemas.openxmlformats.org/officeDocument/2006/relationships/slide" Target="/ppt/slides/slide12.xml" Id="R3d883099bdf94e6f" /><Relationship Type="http://schemas.openxmlformats.org/officeDocument/2006/relationships/slide" Target="/ppt/slides/slide13.xml" Id="R0720716545074ec1" /><Relationship Type="http://schemas.openxmlformats.org/officeDocument/2006/relationships/slide" Target="/ppt/slides/slide14.xml" Id="R083d604a43a8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b5065d0c2c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e7b100529462c" /><Relationship Type="http://schemas.openxmlformats.org/officeDocument/2006/relationships/notesMaster" Target="/ppt/notesMasters/notesMaster1.xml" Id="R0496d86cc6704c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46f0e7dbb4c27" /><Relationship Type="http://schemas.openxmlformats.org/officeDocument/2006/relationships/notesMaster" Target="/ppt/notesMasters/notesMaster1.xml" Id="R7d6209dceecd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ecfae203784655" /><Relationship Type="http://schemas.openxmlformats.org/officeDocument/2006/relationships/notesMaster" Target="/ppt/notesMasters/notesMaster1.xml" Id="Rab4b044b773b44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a0d85c1cf74ca9" /><Relationship Type="http://schemas.openxmlformats.org/officeDocument/2006/relationships/notesMaster" Target="/ppt/notesMasters/notesMaster1.xml" Id="R5a9ae41a32bb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a4245f18954d06" /><Relationship Type="http://schemas.openxmlformats.org/officeDocument/2006/relationships/notesMaster" Target="/ppt/notesMasters/notesMaster1.xml" Id="Ra71ff1d32f7544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919f2412a4311" /><Relationship Type="http://schemas.openxmlformats.org/officeDocument/2006/relationships/notesMaster" Target="/ppt/notesMasters/notesMaster1.xml" Id="R9afcbaf5447d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0dcf9e5df49ad" /><Relationship Type="http://schemas.openxmlformats.org/officeDocument/2006/relationships/notesMaster" Target="/ppt/notesMasters/notesMaster1.xml" Id="R495e1633f6f842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780ab4a1f14d1d" /><Relationship Type="http://schemas.openxmlformats.org/officeDocument/2006/relationships/notesMaster" Target="/ppt/notesMasters/notesMaster1.xml" Id="R808108e638d44c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a56af931ee42a5" /><Relationship Type="http://schemas.openxmlformats.org/officeDocument/2006/relationships/notesMaster" Target="/ppt/notesMasters/notesMaster1.xml" Id="R459ba377f2f3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c1b1379fbd4e1f" /><Relationship Type="http://schemas.openxmlformats.org/officeDocument/2006/relationships/notesMaster" Target="/ppt/notesMasters/notesMaster1.xml" Id="R309b769f5bff4f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fe732f986b4fb2" /><Relationship Type="http://schemas.openxmlformats.org/officeDocument/2006/relationships/notesMaster" Target="/ppt/notesMasters/notesMaster1.xml" Id="R1454091815e244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187c67a23d4178" /><Relationship Type="http://schemas.openxmlformats.org/officeDocument/2006/relationships/notesMaster" Target="/ppt/notesMasters/notesMaster1.xml" Id="Rdf1e2e3d245545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2fdbc828184875" /><Relationship Type="http://schemas.openxmlformats.org/officeDocument/2006/relationships/notesMaster" Target="/ppt/notesMasters/notesMaster1.xml" Id="R45760946306349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4524098dbd43f0" /><Relationship Type="http://schemas.openxmlformats.org/officeDocument/2006/relationships/notesMaster" Target="/ppt/notesMasters/notesMaster1.xml" Id="R6be44e58a02c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2aa4c99f54e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f412f7b6145c1" /><Relationship Type="http://schemas.openxmlformats.org/officeDocument/2006/relationships/slideLayout" Target="/ppt/slideLayouts/slideLayout1.xml" Id="R82cc7267f3ff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c7267f3ff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7848297b54135" /><Relationship Type="http://schemas.openxmlformats.org/officeDocument/2006/relationships/notesSlide" Target="/ppt/notesSlides/notesSlide1.xml" Id="Rc26aa565b84c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7b2599c724dcf" /><Relationship Type="http://schemas.openxmlformats.org/officeDocument/2006/relationships/notesSlide" Target="/ppt/notesSlides/notesSlide2.xml" Id="R022e664111fa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151f725c046cb" /><Relationship Type="http://schemas.openxmlformats.org/officeDocument/2006/relationships/notesSlide" Target="/ppt/notesSlides/notesSlide3.xml" Id="R517d1e9ea5cb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5498467374511" /><Relationship Type="http://schemas.openxmlformats.org/officeDocument/2006/relationships/chart" Target="/ppt/slides/charts/chart1.xml" Id="R2bdc9f21036747a9" /><Relationship Type="http://schemas.openxmlformats.org/officeDocument/2006/relationships/notesSlide" Target="/ppt/notesSlides/notesSlide4.xml" Id="Rcbbf14283023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d3370663548c2" /><Relationship Type="http://schemas.openxmlformats.org/officeDocument/2006/relationships/notesSlide" Target="/ppt/notesSlides/notesSlide5.xml" Id="R80b5ed6990be43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915ef5d04e6f" /><Relationship Type="http://schemas.openxmlformats.org/officeDocument/2006/relationships/notesSlide" Target="/ppt/notesSlides/notesSlide6.xml" Id="R4466faa2d479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ca075b85b41b9" /><Relationship Type="http://schemas.openxmlformats.org/officeDocument/2006/relationships/chart" Target="/ppt/slides/charts/chart2.xml" Id="Re778ff14aa4d470e" /><Relationship Type="http://schemas.openxmlformats.org/officeDocument/2006/relationships/notesSlide" Target="/ppt/notesSlides/notesSlide7.xml" Id="Rb3f3c76668d040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add509000449e" /><Relationship Type="http://schemas.openxmlformats.org/officeDocument/2006/relationships/notesSlide" Target="/ppt/notesSlides/notesSlide8.xml" Id="Reabec6670264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abc2293344068" /><Relationship Type="http://schemas.openxmlformats.org/officeDocument/2006/relationships/chart" Target="/ppt/slides/charts/chart3.xml" Id="R0b0427b003eb426d" /><Relationship Type="http://schemas.openxmlformats.org/officeDocument/2006/relationships/notesSlide" Target="/ppt/notesSlides/notesSlide9.xml" Id="R65a35a85604545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045864a124a8c" /><Relationship Type="http://schemas.openxmlformats.org/officeDocument/2006/relationships/notesSlide" Target="/ppt/notesSlides/notesSlide10.xml" Id="R5c87c30fcc0f40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6d0e71d294c1e" /><Relationship Type="http://schemas.openxmlformats.org/officeDocument/2006/relationships/chart" Target="/ppt/slides/charts/chart4.xml" Id="R2fbcc7918f7a4b8c" /><Relationship Type="http://schemas.openxmlformats.org/officeDocument/2006/relationships/notesSlide" Target="/ppt/notesSlides/notesSlide11.xml" Id="R78f7d934e0214d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a0d3cf3843b1" /><Relationship Type="http://schemas.openxmlformats.org/officeDocument/2006/relationships/notesSlide" Target="/ppt/notesSlides/notesSlide12.xml" Id="R77a54364193743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e90e86bde442a" /><Relationship Type="http://schemas.openxmlformats.org/officeDocument/2006/relationships/notesSlide" Target="/ppt/notesSlides/notesSlide13.xml" Id="R26348830eb0c4d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7b42f14d64acb" /><Relationship Type="http://schemas.openxmlformats.org/officeDocument/2006/relationships/notesSlide" Target="/ppt/notesSlides/notesSlide14.xml" Id="R29e0f8a6f84d450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rate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0-12</c:v>
              </c:pt>
              <c:pt idx="1">
                <c:v>13-24</c:v>
              </c:pt>
              <c:pt idx="2">
                <c:v>25-48</c:v>
              </c:pt>
              <c:pt idx="3">
                <c:v>49+</c:v>
              </c:pt>
            </c:strLit>
          </c:cat>
          <c:val>
            <c:numLit>
              <c:formatCode>General</c:formatCode>
              <c:ptCount val="4"/>
              <c:pt idx="0">
                <c:v>63.1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64A"/>
                    </a:solidFill>
                    <a:latin typeface="Helvetica Neue"/>
                    <a:ea typeface="Helvetica Neue"/>
                    <a:cs typeface="Helvetica Neue"/>
                  </a:rPr>
                  <a:t>Tenure cohort (months)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6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Logistic</c:v>
              </c:pt>
              <c:pt idx="1">
                <c:v>Gradient Boost</c:v>
              </c:pt>
              <c:pt idx="2">
                <c:v>Tuned Forest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92.3</c:v>
              </c:pt>
              <c:pt idx="2">
                <c:v>100</c:v>
              </c:pt>
            </c:numLit>
          </c:val>
        </c:ser>
        <c:ser>
          <c:idx val="1"/>
          <c:order val="1"/>
          <c:tx>
            <c:v>F1 (%)</c:v>
          </c:tx>
          <c:spPr>
            <a:solidFill xmlns:a="http://schemas.openxmlformats.org/drawingml/2006/main">
              <a:srgbClr val="DCEBFF"/>
            </a:solidFill>
          </c:spPr>
          <c:cat>
            <c:strLit>
              <c:ptCount val="3"/>
              <c:pt idx="0">
                <c:v>Logistic</c:v>
              </c:pt>
              <c:pt idx="1">
                <c:v>Gradient Boost</c:v>
              </c:pt>
              <c:pt idx="2">
                <c:v>Tuned Forest</c:v>
              </c:pt>
            </c:strLit>
          </c:cat>
          <c:val>
            <c:numLit>
              <c:formatCode>General</c:formatCode>
              <c:ptCount val="3"/>
              <c:pt idx="0">
                <c:v>89.7</c:v>
              </c:pt>
              <c:pt idx="1">
                <c:v>92.3</c:v>
              </c:pt>
              <c:pt idx="2">
                <c:v>86.7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6364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Importance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Tenure squared</c:v>
              </c:pt>
              <c:pt idx="1">
                <c:v>New customer</c:v>
              </c:pt>
              <c:pt idx="2">
                <c:v>Tenure</c:v>
              </c:pt>
              <c:pt idx="3">
                <c:v>Tenure x charge</c:v>
              </c:pt>
              <c:pt idx="4">
                <c:v>Avg monthly spend</c:v>
              </c:pt>
              <c:pt idx="5">
                <c:v>Charges gap</c:v>
              </c:pt>
            </c:strLit>
          </c:cat>
          <c:val>
            <c:numLit>
              <c:formatCode>General</c:formatCode>
              <c:ptCount val="6"/>
              <c:pt idx="0">
                <c:v>23</c:v>
              </c:pt>
              <c:pt idx="1">
                <c:v>22.4</c:v>
              </c:pt>
              <c:pt idx="2">
                <c:v>21.1</c:v>
              </c:pt>
              <c:pt idx="3">
                <c:v>10.5</c:v>
              </c:pt>
              <c:pt idx="4">
                <c:v>7.1</c:v>
              </c:pt>
              <c:pt idx="5">
                <c:v>4.8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Net value (INR thousands)</c:v>
          </c:tx>
          <c:spPr>
            <a:solidFill xmlns:a="http://schemas.openxmlformats.org/drawingml/2006/main">
              <a:srgbClr val="2F6BFF"/>
            </a:solidFill>
          </c:spPr>
          <c:invertIfNegative val="0"/>
          <c:cat>
            <c:strLit>
              <c:ptCount val="2"/>
              <c:pt idx="0">
                <c:v>Blanket</c:v>
              </c:pt>
              <c:pt idx="1">
                <c:v>Model-targeted</c:v>
              </c:pt>
            </c:strLit>
          </c:cat>
          <c:val>
            <c:numLit>
              <c:formatCode>General</c:formatCode>
              <c:ptCount val="2"/>
              <c:pt idx="0">
                <c:v>-381.6</c:v>
              </c:pt>
              <c:pt idx="1">
                <c:v>136.8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-4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67EE7-CC34-499A-B3B7-B85D18BD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WEEK 12 FINAL CAPSTONE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79BB82-0024-4F5D-8BE1-E67351B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Customer Churn Prediction</a:t>
            </a:r>
          </a:p>
          <a:p xmlns:a="http://schemas.openxmlformats.org/drawingml/2006/main">
            <a:pPr algn="l">
              <a:defRPr sz="45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and Retention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DE1E1-1D1F-4986-A578-B3C3A52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From a validated 500-customer dataset to a tuned model, deployment demo, business case, and career-ready portfolio.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2C7D-680B-4C5F-80F0-BD228D1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6D5F6-94F7-459C-9D20-3B4E5F0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10.6%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15CBB-4C81-49FC-8E42-F20E37D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observed churn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5604-6365-4ED4-9B3B-1533882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53 / 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55D0D-C484-4CD8-A012-BAB4F3B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customers churned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5DC79-9DF7-4C6C-8234-1E0D0F5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Prepared by Md Masoom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4A5CE-9A61-4474-8E7B-B1B486A2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330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4335F2A-89CD-47FC-8962-EAE51FD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Retention capacity should follow risk, not guesswork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CEF836D9-7F69-4108-BF1D-956A14EC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Source: supplied 500-row internship dataset.</a:t>
            </a:r>
          </a:p>
        </p:txBody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5514A5F-8492-4030-9461-32240E6F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0588A-CE0A-49C2-8F8C-B2B4A0C7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Blanket campaigns contact everyone, spend budget on stable customers, and still fail to create a learning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F3A63-DEE9-4A39-9E9D-0B871B09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2D68B-0714-4E80-A960-D30B0EF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6135E-A227-46CF-A17F-A515B59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observed churners in 500 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6CF60-0DD9-4B07-B920-5DD9733D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42FA4-6EBB-4E5F-82AF-1CF0A5E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447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CA27A-F4C7-443F-974D-97A87AF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8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customers stayed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FE7D7-2872-4E39-ABC5-5EE9D109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A5906-75E0-4F64-BB98-D0E7F59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DECISION TO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5703E-7FB9-46FE-98FD-554E28A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7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Who needs a retention action now?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C1B6E-1657-4235-8D3B-416258FD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390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The model ranks customers by churn probability, assigns Low / Medium / High risk, and attaches a suggested human action.</a:t>
            </a:r>
          </a:p>
        </p:txBody>
      </p:sp>
    </p:spTree>
    <p:extLst>
      <p:ext uri="{BB962C8B-B14F-4D97-AF65-F5344CB8AC3E}">
        <p14:creationId xmlns:p14="http://schemas.microsoft.com/office/powerpoint/2010/main" val="105413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5B5D544-E23A-4F9D-808C-EA6F1C67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Success means catching churners without flooding the team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1DBD9DEF-DA14-4681-8A8D-AD036BA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Targets defined before final holdout evaluation.</a:t>
            </a:r>
          </a:p>
        </p:txBody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28255D2-CAE6-452A-AF98-219D7794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F8F54-C6CB-4A64-854E-490D726B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Accuracy is not enough when only 10.6% of customers churn. The operating scorecard protects the minority class and the team's capacity.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28E6B-85E3-4591-A519-C759718E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37989-9E85-408C-96D6-B844084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390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&gt;= 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E75B7-BF7F-48ED-9D97-5169E2B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390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Recall target - find real churners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CDD46-73CF-49A6-9844-EED47D10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46FD4-6468-403C-8E73-AE7FAA6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390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&gt;= .85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40F4A-A184-471A-B2A5-A29960C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86150"/>
            <a:ext cx="2390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ROC-AUC target - rank risk well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894DF-D738-422E-91C9-D117978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B8B6D-C08C-4757-97FA-68E5D87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390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&gt;= .65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DBA99-52B5-4606-9E17-1002C11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390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F1 target - balance catch and 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1842B-AD73-4937-B8E2-44B8D93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EC13F-9B65-4D2A-BC60-10F22501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2390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&gt;=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C7BD3-BB7C-442F-BBC9-03690D9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2390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Precision target - limit false alarms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EA833-2885-463F-BE46-BB750F3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Deployment success also requires one reproducible pipeline, input validation, tests, version metadata, and a human-reviewed action policy.</a:t>
            </a:r>
          </a:p>
        </p:txBody>
      </p:sp>
    </p:spTree>
    <p:extLst>
      <p:ext uri="{BB962C8B-B14F-4D97-AF65-F5344CB8AC3E}">
        <p14:creationId xmlns:p14="http://schemas.microsoft.com/office/powerpoint/2010/main" val="1793833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1E31353-F076-4C3C-847E-FB705F7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Every churn event is in the first-year cohort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71AE7A80-72A9-47D6-B938-2D8EA53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Source: supplied dataset; tenure cohorts calculated in the capstone notebook.</a:t>
            </a:r>
          </a:p>
        </p:txBody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D40F57A3-5D81-422F-B7C7-79203FF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28625" y="1428750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c9f21036747a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080A4-6ADA-45A7-BBB8-8200FA5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3905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FF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B297E-0CBA-4B4A-8D92-FA2C18F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CRITICAL CAVEAT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B34DB-EBFF-4540-A116-7D861DC8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53 of 53 churners have tenure &lt;= 12 months.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08B57-1C78-4133-B375-E56216D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718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8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This unusually strong pattern explains the perfect ranking metrics. Treat performance as educational evidence, not a production guarantee.</a:t>
            </a:r>
          </a:p>
        </p:txBody>
      </p:sp>
    </p:spTree>
    <p:extLst>
      <p:ext uri="{BB962C8B-B14F-4D97-AF65-F5344CB8AC3E}">
        <p14:creationId xmlns:p14="http://schemas.microsoft.com/office/powerpoint/2010/main" val="586860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FF1B190-EC60-4C4F-8D47-F34237E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The workflow prevents target leakage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55687E18-1048-4D39-9544-4DF7668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Implementation: src/data_validation.py, src/features.py, and src/train.py.</a:t>
            </a:r>
          </a:p>
        </p:txBody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BBE672C-C661-47F3-A021-B8094EE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390775" y="32956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743450" y="32956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096125" y="32956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9448800" y="32956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4FD24-DFFA-4B15-9595-A4879403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962150" cy="24574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1C936-90B7-4192-B13B-9A8AC16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47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BC9D9-5558-4773-998E-08BD2E4D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FED3-D7A0-4533-BEEF-C550E35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71825"/>
            <a:ext cx="1619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Exact schema, ranges, unique IDs, no missing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282D7-3FB1-48E3-B1C1-AE7E76B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1962150" cy="24574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4A0EF-2095-425E-A98F-728FF13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CFADF-3886-4F59-AAEC-2E58FB9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516C9-2010-4007-AA68-5AC19FC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1619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75 / 25 stratified train-test isolation.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E5FB7-A9E9-4181-8697-51DD830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95500"/>
            <a:ext cx="1962150" cy="24574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DB183-44A9-4BCD-B37D-09278BE9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47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2B0F-9F37-4C3B-96FA-6080D90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Transform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C4B6C-6640-4553-8F1F-EF3B3F5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71825"/>
            <a:ext cx="1619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Feature engineering, imputation, scale, one-hot.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988D6-B162-4D71-90CD-B4444D1E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1962150" cy="24574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7B9AE-904D-4DAD-9795-E466083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8AAF1-142E-4697-9906-4300C34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Tune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85D28-9DEB-43D5-8239-E7578F8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71825"/>
            <a:ext cx="1619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Five-fold GridSearchCV and OOF threshold.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FFD68-D908-425F-9573-E2A1C930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95500"/>
            <a:ext cx="1962150" cy="24574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EFF20-24D4-4882-B0F7-4043C125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47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EF08C-386B-48D1-8EA9-18848B1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955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B9BAA-C559-48E9-9B8A-699DDA28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71825"/>
            <a:ext cx="1619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One untouched holdout plus model metadata.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A43A4-B412-44EA-A82E-8351CCD9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19700"/>
            <a:ext cx="701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CustomerID and Churn never enter the feature matrix.</a:t>
            </a:r>
          </a:p>
        </p:txBody>
      </p:sp>
    </p:spTree>
    <p:extLst>
      <p:ext uri="{BB962C8B-B14F-4D97-AF65-F5344CB8AC3E}">
        <p14:creationId xmlns:p14="http://schemas.microsoft.com/office/powerpoint/2010/main" val="866202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575BE4E-CB98-47D7-A792-2D8467DD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Feature engineering turns billing history into signals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7E7C6579-41D6-4C84-99BC-9E40F0EE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Eight derived features are created inside the scikit-learn Pipeline.</a:t>
            </a:r>
          </a:p>
        </p:txBody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E24BD202-CC66-4AC6-B111-67E12AC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856E5-A27F-479D-815C-26C8DD1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Raw inputs remain simple for deployment; the saved pipeline creates every derived feature consistently during training and inference.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83C65-702A-4865-AB08-FED0E6DC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Spend context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76250" y="31051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3E3AA-3DF2-4EAC-B093-C002901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Average monthly spend</a:t>
            </a:r>
          </a:p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Charges gap</a:t>
            </a:r>
          </a:p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Estimated annual charges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A5ECC-1D91-43FE-97E8-D704EAF5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Tenure shape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3333750" y="31051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3F82E-0F02-4D61-9A7F-07D57D3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Tenure squared</a:t>
            </a:r>
          </a:p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First-year customer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56725-4F33-44E4-8599-E637F40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Interactions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191250" y="31051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A7FD5-20B6-438C-B22A-2CCD6C24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Tenure x monthly charge</a:t>
            </a:r>
          </a:p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Month-to-month flag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FB75F-A41C-4C16-B0A0-AF80727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Payment behavior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9048750" y="31051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CF8C-B1D0-4796-99AF-D06C8B6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Autopay flag</a:t>
            </a:r>
          </a:p>
          <a:p xmlns:a="http://schemas.openxmlformats.org/drawingml/2006/main">
            <a:pPr algn="l">
              <a:def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Original billing 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B00DF-28E8-4502-B062-882F156E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Derived features use no target information and are recomputed for every prediction.</a:t>
            </a:r>
          </a:p>
        </p:txBody>
      </p:sp>
    </p:spTree>
    <p:extLst>
      <p:ext uri="{BB962C8B-B14F-4D97-AF65-F5344CB8AC3E}">
        <p14:creationId xmlns:p14="http://schemas.microsoft.com/office/powerpoint/2010/main" val="1326634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AFE6CB4-EFA9-4502-8AEE-E0EF11A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Three model families perform strongly on the holdout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AD304F0B-55CC-4E79-8F58-87BF568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Holdout n=125; churn positives=13. Threshold 0.50 for baselines and 0.38 for tuned Random Forest.</a:t>
            </a:r>
          </a:p>
        </p:txBody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199AF2B-01F7-400B-841A-27FF470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38150" y="1428750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78ff14aa4d47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398B3-D3F0-4CA8-B410-F742B72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333750" cy="33718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7EBDE-8C56-480B-93C8-2631BC8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CHAMPION 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1017E-5687-4BCB-9B8C-4F25433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8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Tuned 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B4B2D-D323-4D44-94AA-8C31107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647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18 parameter combinations</a:t>
            </a:r>
          </a:p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5 stratified folds</a:t>
            </a:r>
          </a:p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0.38 OOF threshold</a:t>
            </a:r>
          </a:p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0.994 CV ROC-AUC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376D9-6EC9-4007-AB99-A8C4E6B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3400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Logistic remains a strong challenger; production selection needs temporal and larger-sample validation.</a:t>
            </a:r>
          </a:p>
        </p:txBody>
      </p:sp>
    </p:spTree>
    <p:extLst>
      <p:ext uri="{BB962C8B-B14F-4D97-AF65-F5344CB8AC3E}">
        <p14:creationId xmlns:p14="http://schemas.microsoft.com/office/powerpoint/2010/main" val="2085831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0D5B263-A44D-4965-91D5-3BC80D34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All 13 holdout churners are found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8A5D2F20-50AC-4F1F-A5DB-5D9080B0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Untouched stratified holdout, n=125; operating threshold=0.38.</a:t>
            </a:r>
          </a:p>
        </p:txBody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CE2045FC-5727-4B86-99D4-794F6F47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AC46A-19EE-4702-A182-84281A85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7536E-85F5-4035-B833-5F2BE4C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E9702-13B2-4C5E-8034-0EA985D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3EDD3-747D-45F9-8AA4-54C8ACF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4D671-E4BA-49A9-ADC5-E9B27EC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76.5%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6C28D-E292-41F6-8D1F-93CD8482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9D2F3-BD5E-415F-BF00-1EB6FE4A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F8046-6A4D-43A0-BBF0-17AFC32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192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0.867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E2A02-463F-4F63-A0E0-7DB6DBF5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24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B1EFE-154F-43C2-9A7F-18FABE2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2A77F-659A-48B6-B80E-AEA6A9C8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2CFE6-FCB1-45A4-9557-4DEA4F1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74BD7-67C5-4D67-BD19-086761F3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67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Predicted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78899-39FD-4DBB-91C0-85FE4D45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Actual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5BACA-9AF5-4CE0-ACAA-D1856EE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Stay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2BE07-0DA0-4B91-A291-05A8079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10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Churn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74647-9EEA-4018-B98E-9863C486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Stay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61CC7-2C38-49D6-A09B-C413ABBB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197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Churn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ED2D4-1735-4C94-9969-ACE5175A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2912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CE6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0B885-3E8D-4D4A-A9FE-3BDB763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2912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FFD2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FD26D-45B1-4DD8-B683-AFD292EE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FF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6CBDD-03F4-4315-AD4F-E8C3B99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1492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AAC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33F70-AD89-4349-86CF-90D0726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A36A"/>
                </a:solidFill>
                <a:latin typeface="Helvetica Neue"/>
                <a:ea typeface="Helvetica Neue"/>
                <a:cs typeface="Helvetica Neue"/>
              </a:rPr>
              <a:t>108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784D2-A760-4719-BE88-B3FEA422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148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4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E14D2-FD67-4A6D-B9F6-077E5B83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4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F7649-BEA0-4DE2-B806-20941FFB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006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1CB8C-FD90-4705-968D-0D6CDC1B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Four false positives create review cost; zero false negatives protect the recall objective.</a:t>
            </a:r>
          </a:p>
        </p:txBody>
      </p:sp>
    </p:spTree>
    <p:extLst>
      <p:ext uri="{BB962C8B-B14F-4D97-AF65-F5344CB8AC3E}">
        <p14:creationId xmlns:p14="http://schemas.microsoft.com/office/powerpoint/2010/main" val="2034095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0A6BB5A-1516-488B-B248-5C7F93EF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Tenure-related features dominate the prediction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B40F96A0-C81E-4219-AE80-677F4739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Random Forest impurity importance; importance is predictive, not causal.</a:t>
            </a:r>
          </a:p>
        </p:txBody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AA4F7E9E-C958-4AD7-B09D-ECEB1BD7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7096125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427b003eb42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BC503-B58A-40BE-B856-0EE3CF7A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7DC81-3B5C-4FCE-9DE6-D06F385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9F020-F080-468D-A8FA-53E074E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6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The model is mostly a first-year churn detector.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6925D-6F61-4A5A-B42E-FB03F80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4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Use the signal to prioritize onboarding and service review. Do not claim that tenure itself causes churn or apply an automatic penalty.</a:t>
            </a:r>
          </a:p>
        </p:txBody>
      </p:sp>
    </p:spTree>
    <p:extLst>
      <p:ext uri="{BB962C8B-B14F-4D97-AF65-F5344CB8AC3E}">
        <p14:creationId xmlns:p14="http://schemas.microsoft.com/office/powerpoint/2010/main" val="512991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27A19AA-921A-4663-923D-9F01DB4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One persisted pipeline powers every interface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FBAF5F46-58F8-4D3E-BA9E-BA4945C4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Official references: scikit-learn model persistence and Streamlit deployment documentation.</a:t>
            </a:r>
          </a:p>
        </p:txBody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D62100D9-B8F5-4773-86F9-9CDA10D5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762250" y="3286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5572125" y="3286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8382000" y="3286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6ED71-1973-4512-A5A9-B100B89A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238375" cy="23812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27622-72AC-4986-BCDC-C4B14DD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9CAAC-0A78-4855-AA19-75CB51A0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6F40E-3F96-415B-A1FB-B8F1DFD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28975"/>
            <a:ext cx="18954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Seven validated customer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0EB48-55B6-4B1E-A30D-1EE4C598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238375" cy="23812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0BE56-5775-47D5-8DF7-481286FD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B3B0E-C1CC-4655-BAE4-8FD4EEB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527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3851A-851C-4FD2-BDEA-399269A6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28975"/>
            <a:ext cx="18954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Features, preprocessing, probability, threshold.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417D-EBA6-4ADB-A494-EA1EC25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2238375" cy="23812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72A10-A338-40F6-9354-8D9CF4AC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D8876-5241-410B-93E5-23219779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527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Risk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F3899-0129-446C-8724-6ADE27E6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28975"/>
            <a:ext cx="18954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Low, Medium, High plus recommendation.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36215-07D9-40D9-8901-CF856BD6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238375" cy="23812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65578-9C5E-4D57-91EB-1DC032E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CE6D1-A932-4F62-B4B5-AE1F2FD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Interfaces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AF8DF-6275-4633-8CB8-048BACD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18954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CLI, FastAPI, Streamlit, Docker.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7985D-A6CC-4DED-8716-531375FB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Safeguards before production: trusted artifacts, environment pinning, authentication, logs, drift monitoring, human review, and rollback.</a:t>
            </a:r>
          </a:p>
        </p:txBody>
      </p:sp>
    </p:spTree>
    <p:extLst>
      <p:ext uri="{BB962C8B-B14F-4D97-AF65-F5344CB8AC3E}">
        <p14:creationId xmlns:p14="http://schemas.microsoft.com/office/powerpoint/2010/main" val="1669193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C4E7079-0A1A-4D92-8DFC-53D58AB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Targeted outreach changes campaign economics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11-source">
            <a:extLst xmlns:a="http://schemas.openxmlformats.org/drawingml/2006/main">
              <a:ext uri="{FF2B5EF4-FFF2-40B4-BE49-F238E27FC236}">
                <a16:creationId xmlns:a16="http://schemas.microsoft.com/office/drawing/2014/main" id="{F8EB74A6-7192-4583-A40B-7A2FE43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Illustrative scenario: 35% save rate; INR 12,000 retained value; INR 1,200 offer cost.</a:t>
            </a:r>
          </a:p>
        </p:txBody>
      </p:sp>
      <p:sp>
        <p:nvSpPr>
          <p:cNvPr id="4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55AD7FEA-5ECC-463F-8BA8-52F77744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8625" y="1428750"/>
          <a:ext xmlns:a="http://schemas.openxmlformats.org/drawingml/2006/main" cx="67627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bcc7918f7a4b8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A1BCA-51A4-4248-8A42-40A21A75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0A9BD-746B-4661-83F1-79EA3D20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1D49-2CB7-4977-A57D-8ECEC98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customers contacted with targeting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033C4-F3C0-44F9-A957-FEE0473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0">
            <a:solidFill>
              <a:srgbClr val="16A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5AB39-8F8A-41C2-BF65-6779DF0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908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85E38-EA66-4013-8742-A2FFA6D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957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estimated churners reached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761D1-D6D4-4C76-9DF8-E1DA54E9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30323-D345-430D-94D9-757431F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+INR 136.8k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4C3ED-41AA-418F-8A63-B0C44AC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67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illustrative net campaign value</a:t>
            </a:r>
          </a:p>
        </p:txBody>
      </p:sp>
    </p:spTree>
    <p:extLst>
      <p:ext uri="{BB962C8B-B14F-4D97-AF65-F5344CB8AC3E}">
        <p14:creationId xmlns:p14="http://schemas.microsoft.com/office/powerpoint/2010/main" val="452879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309918C-9C23-4752-B349-672E6ACA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A controlled pilot converts prediction into evidence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12-source">
            <a:extLst xmlns:a="http://schemas.openxmlformats.org/drawingml/2006/main">
              <a:ext uri="{FF2B5EF4-FFF2-40B4-BE49-F238E27FC236}">
                <a16:creationId xmlns:a16="http://schemas.microsoft.com/office/drawing/2014/main" id="{597EE7FC-897E-4A49-9E13-7850D956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The impact estimate is a planning scenario; incremental lift must be measured experimentally.</a:t>
            </a:r>
          </a:p>
        </p:txBody>
      </p:sp>
      <p:sp>
        <p:nvSpPr>
          <p:cNvPr id="4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9289A582-071C-4F80-BFC0-C3BF937C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3619500" y="3286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7191375" y="3286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01D93-1DA2-42AE-A5BD-A39D9F4A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952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2485-FAF0-4F92-B33B-491A6406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5C1F6-1314-4F60-8B92-BE669FF7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Workflow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3594-47CC-4813-A5F9-18AA9612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6098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Score a limited batch; audit inputs, explanations, contact handling, and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15B45-0662-45E9-B3A0-FF7F2182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00250"/>
            <a:ext cx="2952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10062-CB49-47DD-B352-9C241CF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AB747-527F-4F34-9436-AB3ECA2F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03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Controlled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F2633-55FA-4BBD-AA71-11DC522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76575"/>
            <a:ext cx="26098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Randomize eligible high-risk customers; measure incremental saves and cost.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FDFA2-DC32-468A-B339-24AC70A0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952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13D00-5BC2-4F62-A0CB-F9FFA197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3FA00-2CC2-4CB7-BB2E-82232C1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Scale or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2950A-A25D-49F8-99A2-2F5A9B1D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098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Integrate only if lift is positive and safeguards remain stable.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6CAA2-3940-4FB7-8E74-FB67831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33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Monthly governance: delayed-label recall, precision, calibration, drift, subgroup error rates, offer cost, customer experience, and rollback readiness.</a:t>
            </a:r>
          </a:p>
        </p:txBody>
      </p:sp>
    </p:spTree>
    <p:extLst>
      <p:ext uri="{BB962C8B-B14F-4D97-AF65-F5344CB8AC3E}">
        <p14:creationId xmlns:p14="http://schemas.microsoft.com/office/powerpoint/2010/main" val="188762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60DE5057-0D69-45F2-9265-EFEEE055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This capstone is ready for a portfolio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3" name="slide-13-source">
            <a:extLst xmlns:a="http://schemas.openxmlformats.org/drawingml/2006/main">
              <a:ext uri="{FF2B5EF4-FFF2-40B4-BE49-F238E27FC236}">
                <a16:creationId xmlns:a16="http://schemas.microsoft.com/office/drawing/2014/main" id="{38E78521-A5B6-4E62-9FEC-9E0E6A62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Sources: U.S. BLS Data Scientists outlook (2024-34); WEF Future of Jobs Report 2025.</a:t>
            </a:r>
          </a:p>
        </p:txBody>
      </p:sp>
      <p:sp>
        <p:nvSpPr>
          <p:cNvPr id="4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0D12E33A-4E24-45C3-ADCD-24E8F329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8FED8-C171-4D5D-8456-409C0CD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The project shows the complete job story: frame a business problem, build defensibly, communicate tradeoffs, and ship a working demonstration.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BCC58-5BE7-460D-9020-1E75C01C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76250" y="3400425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0391-B601-4B49-90CE-ACB05214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Executed notebook, modular source, tests, README,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AB446-100E-4DBD-A22F-4B8A80A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Communication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333750" y="3400425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989BB-9A28-410E-A49A-897DCB2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Technical PDF, business report, 14-slide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E3DE6-0C36-4396-A8ED-681C33A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Deployment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191250" y="3400425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0AE8A-FD79-43A3-8F34-3F7D36B2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Saved model, CLI, FastAPI, Streamlit, Docker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14EC6-2E6A-4E9E-AF1C-F97B9FB8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238"/>
                </a:solidFill>
                <a:latin typeface="Helvetica Neue"/>
                <a:ea typeface="Helvetica Neue"/>
                <a:cs typeface="Helvetica Neue"/>
              </a:rPr>
              <a:t>Career kit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9048750" y="3400425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99A7C-B103-472B-A420-D97352C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64A"/>
                </a:solidFill>
                <a:latin typeface="Helvetica Neue"/>
                <a:ea typeface="Helvetica Neue"/>
                <a:cs typeface="Helvetica Neue"/>
              </a:rPr>
              <a:t>Resume, LinkedIn copy, 20 interview questions, 90-day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C9050-5347-41A0-841A-238D867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34%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97DEB-B553-4870-B80F-8498C1C9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483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487"/>
                </a:solidFill>
                <a:latin typeface="Helvetica Neue"/>
                <a:ea typeface="Helvetica Neue"/>
                <a:cs typeface="Helvetica Neue"/>
              </a:rPr>
              <a:t>U.S. data scientist employment growth projected for 2024-34; WEF also lists big data and AI/ML roles among the fastest-growing.</a:t>
            </a:r>
          </a:p>
        </p:txBody>
      </p:sp>
    </p:spTree>
    <p:extLst>
      <p:ext uri="{BB962C8B-B14F-4D97-AF65-F5344CB8AC3E}">
        <p14:creationId xmlns:p14="http://schemas.microsoft.com/office/powerpoint/2010/main" val="1159469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140BE-D5A1-4601-8F1A-F87C8AB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RECOMMENDED DECISION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C1BF054-B413-493A-B10B-3A5F24D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Approve a controlled pilot,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a full rollout.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A0F30-DC17-4A57-AE8A-A2450BAF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0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E0EA"/>
                </a:solidFill>
                <a:latin typeface="Helvetica Neue"/>
                <a:ea typeface="Helvetica Neue"/>
                <a:cs typeface="Helvetica Neue"/>
              </a:rPr>
              <a:t>The model catches every holdout churner, but the sample contains an unusually strong first-year pattern. A small human-reviewed experiment is the responsible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3BC64-CEE8-4713-A5E0-AB00376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2952750" cy="31432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D3350"/>
          </a:solidFill>
          <a:ln xmlns:a="http://schemas.openxmlformats.org/drawingml/2006/main" w="9525">
            <a:solidFill>
              <a:srgbClr val="34537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BDF9F-3E56-48AF-B605-93636745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C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C1FF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B4052-9AD3-4637-8744-98D38A3B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 lift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 fairness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or stop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CE0A8-C4E0-4982-A96B-5C24681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B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EBBCD"/>
                </a:solidFill>
                <a:latin typeface="Helvetica Neue"/>
                <a:ea typeface="Helvetica Neue"/>
                <a:cs typeface="Helvetica Neue"/>
              </a:rPr>
              <a:t>Week 12 Final Capstone | Md Masoom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58589-429B-480E-8E94-3F63F86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B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EBBC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3914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2026-07-21T15:12:54.1490000Z</dcterms:created>
  <dcterms:modified xsi:type="dcterms:W3CDTF">2026-07-21T15:12:54.1490000Z</dcterms:modified>
</coreProperties>
</file>